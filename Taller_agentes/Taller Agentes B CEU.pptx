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Nunito"/>
      <p:regular r:id="rId28"/>
      <p:bold r:id="rId29"/>
      <p:italic r:id="rId30"/>
      <p:boldItalic r:id="rId31"/>
    </p:embeddedFont>
    <p:embeddedFont>
      <p:font typeface="M PLUS Rounded 1c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regular.fntdata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Nunito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Nuni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4.xml"/><Relationship Id="rId33" Type="http://schemas.openxmlformats.org/officeDocument/2006/relationships/font" Target="fonts/MPLUSRounded1c-bold.fntdata"/><Relationship Id="rId10" Type="http://schemas.openxmlformats.org/officeDocument/2006/relationships/slide" Target="slides/slide3.xml"/><Relationship Id="rId32" Type="http://schemas.openxmlformats.org/officeDocument/2006/relationships/font" Target="fonts/MPLUSRounded1c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3f27643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3f27643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Ventanas abiertas: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Presentacion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VsCode con python-cicd-kata desde cero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Github resultado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Github repo java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3f276439a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d3f276439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b437406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eb437406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eb42e1ef4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eb42e1ef4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b437404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b437404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b42e1ef4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b42e1ef4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b4374047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b4374047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6e48e3bb7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96e48e3bb7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6e48e3bb7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96e48e3bb7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6e48e3bb7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96e48e3bb7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6e48e3bb7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96e48e3bb7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b42e1ef4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b42e1ef4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eb4374047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eb4374047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8d1dc999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8d1dc999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8d1dc999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8d1dc999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8d1dc999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8d1dc999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007725" y="372425"/>
            <a:ext cx="4789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389600"/>
            <a:ext cx="7170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170000" y="271325"/>
            <a:ext cx="688800" cy="663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94925" y="643325"/>
            <a:ext cx="299100" cy="291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954025" y="36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170000" y="271325"/>
            <a:ext cx="688800" cy="663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594925" y="643325"/>
            <a:ext cx="299100" cy="291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954025" y="36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0"/>
          <p:cNvSpPr/>
          <p:nvPr/>
        </p:nvSpPr>
        <p:spPr>
          <a:xfrm>
            <a:off x="170000" y="271325"/>
            <a:ext cx="688800" cy="663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594925" y="643325"/>
            <a:ext cx="299100" cy="291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1044400" y="34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1"/>
          <p:cNvSpPr/>
          <p:nvPr/>
        </p:nvSpPr>
        <p:spPr>
          <a:xfrm>
            <a:off x="170000" y="271325"/>
            <a:ext cx="688800" cy="663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594925" y="643325"/>
            <a:ext cx="299100" cy="291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5" name="Google Shape;11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7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8" name="Google Shape;128;p27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4" name="Google Shape;134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2" name="Google Shape;152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3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3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61" name="Google Shape;161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5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6" name="Google Shape;166;p35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7" name="Google Shape;167;p3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6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6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73" name="Google Shape;173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954025" y="36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M PLUS Rounded 1c"/>
              <a:buNone/>
              <a:defRPr b="1" i="0" sz="2800" u="none" cap="none" strike="noStrike">
                <a:solidFill>
                  <a:schemeClr val="accent3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Rounded 1c"/>
              <a:buNone/>
              <a:defRPr b="0" i="0" sz="2800" u="none" cap="none" strike="noStrike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Rounded 1c"/>
              <a:buNone/>
              <a:defRPr b="0" i="0" sz="2800" u="none" cap="none" strike="noStrike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Rounded 1c"/>
              <a:buNone/>
              <a:defRPr b="0" i="0" sz="2800" u="none" cap="none" strike="noStrike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Rounded 1c"/>
              <a:buNone/>
              <a:defRPr b="0" i="0" sz="2800" u="none" cap="none" strike="noStrike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Rounded 1c"/>
              <a:buNone/>
              <a:defRPr b="0" i="0" sz="2800" u="none" cap="none" strike="noStrike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Rounded 1c"/>
              <a:buNone/>
              <a:defRPr b="0" i="0" sz="2800" u="none" cap="none" strike="noStrike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Rounded 1c"/>
              <a:buNone/>
              <a:defRPr b="0" i="0" sz="2800" u="none" cap="none" strike="noStrike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 PLUS Rounded 1c"/>
              <a:buNone/>
              <a:defRPr b="0" i="0" sz="2800" u="none" cap="none" strike="noStrike">
                <a:solidFill>
                  <a:schemeClr val="dk1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 PLUS Rounded 1c"/>
              <a:buChar char="●"/>
              <a:defRPr b="1" i="0" sz="18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 PLUS Rounded 1c"/>
              <a:buChar char="○"/>
              <a:defRPr b="1" i="0" sz="1400" u="none" cap="none" strike="noStrike">
                <a:solidFill>
                  <a:schemeClr val="accent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 PLUS Rounded 1c"/>
              <a:buChar char="■"/>
              <a:defRPr b="0" i="0" sz="14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 PLUS Rounded 1c"/>
              <a:buChar char="●"/>
              <a:defRPr b="0" i="0" sz="14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 PLUS Rounded 1c"/>
              <a:buChar char="○"/>
              <a:defRPr b="0" i="0" sz="14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 PLUS Rounded 1c"/>
              <a:buChar char="■"/>
              <a:defRPr b="0" i="0" sz="14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 PLUS Rounded 1c"/>
              <a:buChar char="●"/>
              <a:defRPr b="0" i="0" sz="14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 PLUS Rounded 1c"/>
              <a:buChar char="○"/>
              <a:defRPr b="0" i="0" sz="14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 PLUS Rounded 1c"/>
              <a:buChar char="■"/>
              <a:defRPr b="0" i="0" sz="14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noFill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hyperlink" Target="mailto:jsainero@nextdigital.es" TargetMode="External"/><Relationship Id="rId9" Type="http://schemas.openxmlformats.org/officeDocument/2006/relationships/image" Target="../media/image25.jpg"/><Relationship Id="rId5" Type="http://schemas.openxmlformats.org/officeDocument/2006/relationships/hyperlink" Target="mailto:jsainero@nextdigital.es" TargetMode="External"/><Relationship Id="rId6" Type="http://schemas.openxmlformats.org/officeDocument/2006/relationships/hyperlink" Target="https://es.linkedin.com/in/jorgesainero" TargetMode="External"/><Relationship Id="rId7" Type="http://schemas.openxmlformats.org/officeDocument/2006/relationships/hyperlink" Target="https://es.linkedin.com/in/jorgesainero" TargetMode="External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7"/>
          <p:cNvPicPr preferRelativeResize="0"/>
          <p:nvPr/>
        </p:nvPicPr>
        <p:blipFill rotWithShape="1">
          <a:blip r:embed="rId3">
            <a:alphaModFix/>
          </a:blip>
          <a:srcRect b="0" l="13767" r="19370" t="0"/>
          <a:stretch/>
        </p:blipFill>
        <p:spPr>
          <a:xfrm>
            <a:off x="6389398" y="338125"/>
            <a:ext cx="4708800" cy="4563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9" name="Google Shape;179;p37"/>
          <p:cNvSpPr/>
          <p:nvPr/>
        </p:nvSpPr>
        <p:spPr>
          <a:xfrm>
            <a:off x="6083825" y="2052600"/>
            <a:ext cx="1038300" cy="1038300"/>
          </a:xfrm>
          <a:prstGeom prst="ellipse">
            <a:avLst/>
          </a:prstGeom>
          <a:solidFill>
            <a:srgbClr val="F8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7"/>
          <p:cNvSpPr txBox="1"/>
          <p:nvPr/>
        </p:nvSpPr>
        <p:spPr>
          <a:xfrm>
            <a:off x="233125" y="1684150"/>
            <a:ext cx="5892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n" sz="3500">
                <a:solidFill>
                  <a:srgbClr val="2F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GenAI</a:t>
            </a:r>
            <a:r>
              <a:rPr b="1" i="0" lang="en" sz="3500" u="none" cap="none" strike="noStrike">
                <a:solidFill>
                  <a:srgbClr val="2F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:</a:t>
            </a:r>
            <a:r>
              <a:rPr b="1" i="0" lang="en" sz="4000" u="none" cap="none" strike="noStrike">
                <a:solidFill>
                  <a:srgbClr val="2F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 </a:t>
            </a:r>
            <a:br>
              <a:rPr b="1" i="0" lang="en" sz="4000" u="none" cap="none" strike="noStrike">
                <a:solidFill>
                  <a:srgbClr val="2F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</a:br>
            <a:r>
              <a:rPr b="1" lang="en" sz="3500">
                <a:solidFill>
                  <a:schemeClr val="accent2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Construyendo asistentes inteligentes para entornos reales (2)</a:t>
            </a:r>
            <a:endParaRPr b="1" i="0" sz="3600" u="none" cap="none" strike="noStrike">
              <a:solidFill>
                <a:schemeClr val="accent2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394500" y="4310800"/>
            <a:ext cx="3717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Jorge Sainero</a:t>
            </a:r>
            <a:r>
              <a:rPr b="0" i="0" lang="en" sz="11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 </a:t>
            </a:r>
            <a:r>
              <a:rPr b="0" i="0" lang="en" sz="1100" u="none" cap="none" strike="noStrike">
                <a:solidFill>
                  <a:schemeClr val="lt2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|</a:t>
            </a:r>
            <a:r>
              <a:rPr b="0" i="0" lang="en" sz="1100" u="none" cap="none" strike="noStrike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 Data </a:t>
            </a:r>
            <a:r>
              <a:rPr lang="en" sz="1100">
                <a:solidFill>
                  <a:schemeClr val="dk2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Scientist | AI Engineer</a:t>
            </a:r>
            <a:endParaRPr b="0" i="0" sz="1100" u="none" cap="none" strike="noStrike">
              <a:solidFill>
                <a:schemeClr val="dk2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pic>
        <p:nvPicPr>
          <p:cNvPr id="182" name="Google Shape;18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0350" y="149700"/>
            <a:ext cx="1106675" cy="11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9050" y="2227835"/>
            <a:ext cx="687826" cy="68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7" title="Logo CE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475" y="461775"/>
            <a:ext cx="2309950" cy="5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/>
          <p:cNvPicPr preferRelativeResize="0"/>
          <p:nvPr/>
        </p:nvPicPr>
        <p:blipFill rotWithShape="1">
          <a:blip r:embed="rId3">
            <a:alphaModFix/>
          </a:blip>
          <a:srcRect b="0" l="10757" r="41664" t="0"/>
          <a:stretch/>
        </p:blipFill>
        <p:spPr>
          <a:xfrm flipH="1">
            <a:off x="4793525" y="-24200"/>
            <a:ext cx="4350475" cy="51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type="title"/>
          </p:nvPr>
        </p:nvSpPr>
        <p:spPr>
          <a:xfrm>
            <a:off x="1007725" y="372425"/>
            <a:ext cx="4789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¿Quién soy?</a:t>
            </a:r>
            <a:endParaRPr b="1"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191" name="Google Shape;191;p38"/>
          <p:cNvSpPr txBox="1"/>
          <p:nvPr/>
        </p:nvSpPr>
        <p:spPr>
          <a:xfrm>
            <a:off x="1882175" y="3042800"/>
            <a:ext cx="41238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✉️  </a:t>
            </a: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jsainero</a:t>
            </a:r>
            <a:r>
              <a:rPr b="0" i="0" lang="en" sz="14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5"/>
              </a:rPr>
              <a:t>@nextdigital.es</a:t>
            </a:r>
            <a:endParaRPr b="0" i="0" sz="1400" u="none" cap="none" strike="noStrike">
              <a:solidFill>
                <a:srgbClr val="333D4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33D47"/>
                </a:solidFill>
                <a:latin typeface="Nunito"/>
                <a:ea typeface="Nunito"/>
                <a:cs typeface="Nunito"/>
                <a:sym typeface="Nunito"/>
              </a:rPr>
              <a:t>🧑🏻‍💻  </a:t>
            </a:r>
            <a:r>
              <a:rPr b="0" i="0" lang="en" sz="14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6"/>
              </a:rPr>
              <a:t>LinkedIn: </a:t>
            </a: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7"/>
              </a:rPr>
              <a:t>Jorge Sainero Valle</a:t>
            </a:r>
            <a:endParaRPr b="0" i="0" sz="1400" u="none" cap="none" strike="noStrike">
              <a:solidFill>
                <a:srgbClr val="333D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38"/>
          <p:cNvSpPr txBox="1"/>
          <p:nvPr>
            <p:ph idx="1" type="body"/>
          </p:nvPr>
        </p:nvSpPr>
        <p:spPr>
          <a:xfrm>
            <a:off x="311700" y="1389600"/>
            <a:ext cx="58734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Data Scientist y AI Engineer en Next Digital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Cliente: Sector de transporte aereo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Doble grado Matemáticas e Informática UCM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Master en Ciencia de datos UOC</a:t>
            </a:r>
            <a:endParaRPr sz="1400"/>
          </a:p>
        </p:txBody>
      </p:sp>
      <p:pic>
        <p:nvPicPr>
          <p:cNvPr id="193" name="Google Shape;193;p38"/>
          <p:cNvPicPr preferRelativeResize="0"/>
          <p:nvPr/>
        </p:nvPicPr>
        <p:blipFill rotWithShape="1">
          <a:blip r:embed="rId8">
            <a:alphaModFix/>
          </a:blip>
          <a:srcRect b="0" l="2812" r="2812" t="0"/>
          <a:stretch/>
        </p:blipFill>
        <p:spPr>
          <a:xfrm>
            <a:off x="311700" y="2925000"/>
            <a:ext cx="1353300" cy="1419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4" name="Google Shape;194;p38" title="Screenshot_2026-03-26-15-57-33-601_com.linkedin.android.jpg"/>
          <p:cNvPicPr preferRelativeResize="0"/>
          <p:nvPr/>
        </p:nvPicPr>
        <p:blipFill rotWithShape="1">
          <a:blip r:embed="rId9">
            <a:alphaModFix/>
          </a:blip>
          <a:srcRect b="35436" l="14972" r="10761" t="31252"/>
          <a:stretch/>
        </p:blipFill>
        <p:spPr>
          <a:xfrm>
            <a:off x="311700" y="2778000"/>
            <a:ext cx="1572000" cy="15663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9"/>
          <p:cNvPicPr preferRelativeResize="0"/>
          <p:nvPr/>
        </p:nvPicPr>
        <p:blipFill rotWithShape="1">
          <a:blip r:embed="rId3">
            <a:alphaModFix/>
          </a:blip>
          <a:srcRect b="0" l="46729" r="0" t="56526"/>
          <a:stretch/>
        </p:blipFill>
        <p:spPr>
          <a:xfrm>
            <a:off x="4272825" y="2907350"/>
            <a:ext cx="4871100" cy="223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9"/>
          <p:cNvSpPr txBox="1"/>
          <p:nvPr/>
        </p:nvSpPr>
        <p:spPr>
          <a:xfrm>
            <a:off x="549200" y="567900"/>
            <a:ext cx="3401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33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Qué </a:t>
            </a:r>
            <a:endParaRPr b="1" sz="8000">
              <a:solidFill>
                <a:srgbClr val="333D47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  <a:p>
            <a:pPr indent="0" lvl="0" marL="127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33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vam</a:t>
            </a:r>
            <a:r>
              <a:rPr b="1" lang="en" sz="8000">
                <a:solidFill>
                  <a:srgbClr val="F8A800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o</a:t>
            </a:r>
            <a:r>
              <a:rPr b="1" lang="en" sz="8000">
                <a:solidFill>
                  <a:srgbClr val="33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s</a:t>
            </a:r>
            <a:endParaRPr b="1" sz="8000">
              <a:solidFill>
                <a:srgbClr val="333D47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  <a:p>
            <a:pPr indent="0" lvl="0" marL="127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33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a ver</a:t>
            </a:r>
            <a:endParaRPr b="1" sz="8000">
              <a:solidFill>
                <a:srgbClr val="333D47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201" name="Google Shape;201;p39"/>
          <p:cNvSpPr txBox="1"/>
          <p:nvPr/>
        </p:nvSpPr>
        <p:spPr>
          <a:xfrm>
            <a:off x="4581275" y="1366425"/>
            <a:ext cx="32043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D47"/>
                </a:solidFill>
                <a:latin typeface="Nunito"/>
                <a:ea typeface="Nunito"/>
                <a:cs typeface="Nunito"/>
                <a:sym typeface="Nunito"/>
              </a:rPr>
              <a:t>El problema de los LLM</a:t>
            </a:r>
            <a:endParaRPr sz="1300">
              <a:solidFill>
                <a:srgbClr val="333D4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D47"/>
                </a:solidFill>
                <a:latin typeface="Nunito"/>
                <a:ea typeface="Nunito"/>
                <a:cs typeface="Nunito"/>
                <a:sym typeface="Nunito"/>
              </a:rPr>
              <a:t>¿Cómo funciona un RAG?</a:t>
            </a:r>
            <a:endParaRPr sz="1300">
              <a:solidFill>
                <a:srgbClr val="333D4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D47"/>
                </a:solidFill>
                <a:latin typeface="Nunito"/>
                <a:ea typeface="Nunito"/>
                <a:cs typeface="Nunito"/>
                <a:sym typeface="Nunito"/>
              </a:rPr>
              <a:t>¿Qué es un agente?</a:t>
            </a:r>
            <a:endParaRPr sz="1300">
              <a:solidFill>
                <a:srgbClr val="333D4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D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2" name="Google Shape;20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7300" y="272525"/>
            <a:ext cx="949500" cy="43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39"/>
          <p:cNvGrpSpPr/>
          <p:nvPr/>
        </p:nvGrpSpPr>
        <p:grpSpPr>
          <a:xfrm>
            <a:off x="4212763" y="1286238"/>
            <a:ext cx="383700" cy="1113543"/>
            <a:chOff x="4121375" y="1120000"/>
            <a:chExt cx="383700" cy="2056025"/>
          </a:xfrm>
        </p:grpSpPr>
        <p:sp>
          <p:nvSpPr>
            <p:cNvPr id="204" name="Google Shape;204;p39"/>
            <p:cNvSpPr/>
            <p:nvPr/>
          </p:nvSpPr>
          <p:spPr>
            <a:xfrm>
              <a:off x="4121375" y="1120000"/>
              <a:ext cx="383700" cy="383700"/>
            </a:xfrm>
            <a:prstGeom prst="ellipse">
              <a:avLst/>
            </a:prstGeom>
            <a:solidFill>
              <a:srgbClr val="6FC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9"/>
            <p:cNvSpPr/>
            <p:nvPr/>
          </p:nvSpPr>
          <p:spPr>
            <a:xfrm>
              <a:off x="4121375" y="2792325"/>
              <a:ext cx="383700" cy="383700"/>
            </a:xfrm>
            <a:prstGeom prst="ellipse">
              <a:avLst/>
            </a:prstGeom>
            <a:solidFill>
              <a:srgbClr val="6FC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9"/>
            <p:cNvSpPr/>
            <p:nvPr/>
          </p:nvSpPr>
          <p:spPr>
            <a:xfrm>
              <a:off x="4121375" y="1327100"/>
              <a:ext cx="383700" cy="1664700"/>
            </a:xfrm>
            <a:prstGeom prst="rect">
              <a:avLst/>
            </a:prstGeom>
            <a:solidFill>
              <a:srgbClr val="6FC4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39"/>
          <p:cNvSpPr txBox="1"/>
          <p:nvPr/>
        </p:nvSpPr>
        <p:spPr>
          <a:xfrm>
            <a:off x="4255475" y="1366425"/>
            <a:ext cx="325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/>
          <p:nvPr/>
        </p:nvSpPr>
        <p:spPr>
          <a:xfrm>
            <a:off x="0" y="-7575"/>
            <a:ext cx="9144000" cy="5143500"/>
          </a:xfrm>
          <a:prstGeom prst="rect">
            <a:avLst/>
          </a:prstGeom>
          <a:solidFill>
            <a:srgbClr val="F8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0"/>
          <p:cNvSpPr txBox="1"/>
          <p:nvPr/>
        </p:nvSpPr>
        <p:spPr>
          <a:xfrm>
            <a:off x="549200" y="567900"/>
            <a:ext cx="3401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2F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01_</a:t>
            </a:r>
            <a:endParaRPr b="1" sz="8000">
              <a:solidFill>
                <a:srgbClr val="2F3D47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214" name="Google Shape;214;p40"/>
          <p:cNvSpPr txBox="1"/>
          <p:nvPr/>
        </p:nvSpPr>
        <p:spPr>
          <a:xfrm>
            <a:off x="549200" y="1694275"/>
            <a:ext cx="3559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El problema de los LLM</a:t>
            </a:r>
            <a:endParaRPr b="1" sz="4000">
              <a:solidFill>
                <a:schemeClr val="lt1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pic>
        <p:nvPicPr>
          <p:cNvPr id="215" name="Google Shape;215;p40"/>
          <p:cNvPicPr preferRelativeResize="0"/>
          <p:nvPr/>
        </p:nvPicPr>
        <p:blipFill rotWithShape="1">
          <a:blip r:embed="rId3">
            <a:alphaModFix/>
          </a:blip>
          <a:srcRect b="11363" l="45256" r="0" t="0"/>
          <a:stretch/>
        </p:blipFill>
        <p:spPr>
          <a:xfrm>
            <a:off x="4138375" y="0"/>
            <a:ext cx="5005500" cy="45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1"/>
          <p:cNvPicPr preferRelativeResize="0"/>
          <p:nvPr/>
        </p:nvPicPr>
        <p:blipFill rotWithShape="1">
          <a:blip r:embed="rId4">
            <a:alphaModFix/>
          </a:blip>
          <a:srcRect b="0" l="0" r="74243" t="49487"/>
          <a:stretch/>
        </p:blipFill>
        <p:spPr>
          <a:xfrm>
            <a:off x="0" y="2960700"/>
            <a:ext cx="1968600" cy="21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1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 problema de los LLM: el conocimiento estático</a:t>
            </a:r>
            <a:endParaRPr b="1"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" name="Google Shape;223;p41"/>
          <p:cNvSpPr txBox="1"/>
          <p:nvPr/>
        </p:nvSpPr>
        <p:spPr>
          <a:xfrm>
            <a:off x="314425" y="837725"/>
            <a:ext cx="64728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 LLM solo tiene conocimiento que estaba disponible en su fecha de entrenamiento.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Para ello existían 3 técnicas principales para añadir conocimiento.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4" name="Google Shape;22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8674" y="647775"/>
            <a:ext cx="2020125" cy="432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1"/>
          <p:cNvSpPr/>
          <p:nvPr/>
        </p:nvSpPr>
        <p:spPr>
          <a:xfrm>
            <a:off x="6928675" y="4684200"/>
            <a:ext cx="1986300" cy="290100"/>
          </a:xfrm>
          <a:prstGeom prst="rect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1" title="Gemini_Generated_Image_rqh1zyrqh1zyrqh1.png"/>
          <p:cNvPicPr preferRelativeResize="0"/>
          <p:nvPr/>
        </p:nvPicPr>
        <p:blipFill rotWithShape="1">
          <a:blip r:embed="rId6">
            <a:alphaModFix/>
          </a:blip>
          <a:srcRect b="30609" l="7809" r="7589" t="8993"/>
          <a:stretch/>
        </p:blipFill>
        <p:spPr>
          <a:xfrm>
            <a:off x="804950" y="2378525"/>
            <a:ext cx="5784827" cy="225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/>
          <p:nvPr/>
        </p:nvSpPr>
        <p:spPr>
          <a:xfrm>
            <a:off x="0" y="-7575"/>
            <a:ext cx="9144000" cy="5143500"/>
          </a:xfrm>
          <a:prstGeom prst="rect">
            <a:avLst/>
          </a:prstGeom>
          <a:solidFill>
            <a:srgbClr val="6FC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42"/>
          <p:cNvPicPr preferRelativeResize="0"/>
          <p:nvPr/>
        </p:nvPicPr>
        <p:blipFill rotWithShape="1">
          <a:blip r:embed="rId3">
            <a:alphaModFix/>
          </a:blip>
          <a:srcRect b="5036" l="0" r="4361" t="5045"/>
          <a:stretch/>
        </p:blipFill>
        <p:spPr>
          <a:xfrm>
            <a:off x="4838700" y="-7575"/>
            <a:ext cx="4305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2"/>
          <p:cNvSpPr txBox="1"/>
          <p:nvPr/>
        </p:nvSpPr>
        <p:spPr>
          <a:xfrm>
            <a:off x="549200" y="567900"/>
            <a:ext cx="3401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333D47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02_</a:t>
            </a:r>
            <a:endParaRPr b="1" sz="8000">
              <a:solidFill>
                <a:srgbClr val="333D47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234" name="Google Shape;234;p42"/>
          <p:cNvSpPr txBox="1"/>
          <p:nvPr/>
        </p:nvSpPr>
        <p:spPr>
          <a:xfrm>
            <a:off x="549200" y="1694275"/>
            <a:ext cx="4125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¿Cómo funciona un RAG?</a:t>
            </a:r>
            <a:endParaRPr b="1" sz="4000">
              <a:solidFill>
                <a:schemeClr val="lt1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3"/>
          <p:cNvPicPr preferRelativeResize="0"/>
          <p:nvPr/>
        </p:nvPicPr>
        <p:blipFill rotWithShape="1">
          <a:blip r:embed="rId4">
            <a:alphaModFix/>
          </a:blip>
          <a:srcRect b="0" l="0" r="74243" t="49487"/>
          <a:stretch/>
        </p:blipFill>
        <p:spPr>
          <a:xfrm>
            <a:off x="0" y="2960700"/>
            <a:ext cx="1968600" cy="21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3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¿Cómo funciona un RAG? Definición</a:t>
            </a:r>
            <a:endParaRPr b="1"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43"/>
          <p:cNvSpPr txBox="1"/>
          <p:nvPr/>
        </p:nvSpPr>
        <p:spPr>
          <a:xfrm>
            <a:off x="314425" y="837725"/>
            <a:ext cx="84060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Retrieval-Augmented Generation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Técnica mediante la cual dotamos a un LLM de herramientas para acceder a un conocimiento que no ha sido provisto durante el entrenamiento y que él genere una respuesta en base a este.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Esta información no va ser parte del conocimiento del modelo sino que vamos a darle las herramientas para poder recuperar la información necesaria.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3" name="Google Shape;24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9675" y="2602195"/>
            <a:ext cx="4337674" cy="23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4"/>
          <p:cNvPicPr preferRelativeResize="0"/>
          <p:nvPr/>
        </p:nvPicPr>
        <p:blipFill rotWithShape="1">
          <a:blip r:embed="rId4">
            <a:alphaModFix/>
          </a:blip>
          <a:srcRect b="0" l="0" r="74242" t="49487"/>
          <a:stretch/>
        </p:blipFill>
        <p:spPr>
          <a:xfrm flipH="1">
            <a:off x="7175401" y="2960700"/>
            <a:ext cx="1968599" cy="2182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4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¿Cómo funciona un RAG? </a:t>
            </a:r>
            <a:r>
              <a:rPr b="1" i="0" lang="en" sz="2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Componentes</a:t>
            </a:r>
            <a:endParaRPr b="1" i="0" sz="21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1" name="Google Shape;251;p44"/>
          <p:cNvSpPr txBox="1"/>
          <p:nvPr/>
        </p:nvSpPr>
        <p:spPr>
          <a:xfrm>
            <a:off x="314425" y="837725"/>
            <a:ext cx="84060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Retrieval (recuperación) → Base de conocimiento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Generation (generación) → Modelo de lenguaje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2" name="Google Shape;25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9150" y="2164745"/>
            <a:ext cx="4337674" cy="23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5"/>
          <p:cNvPicPr preferRelativeResize="0"/>
          <p:nvPr/>
        </p:nvPicPr>
        <p:blipFill rotWithShape="1">
          <a:blip r:embed="rId4">
            <a:alphaModFix/>
          </a:blip>
          <a:srcRect b="0" l="0" r="74242" t="49487"/>
          <a:stretch/>
        </p:blipFill>
        <p:spPr>
          <a:xfrm flipH="1">
            <a:off x="7175401" y="2960700"/>
            <a:ext cx="1968599" cy="2182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5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¿Cómo funciona un RAG? </a:t>
            </a:r>
            <a:r>
              <a:rPr b="1" i="0" lang="en" sz="2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Base de conocimiento</a:t>
            </a:r>
            <a:endParaRPr b="1" i="0" sz="21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p45"/>
          <p:cNvSpPr txBox="1"/>
          <p:nvPr/>
        </p:nvSpPr>
        <p:spPr>
          <a:xfrm>
            <a:off x="314425" y="837725"/>
            <a:ext cx="84060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Almacena los documentos de los que vamos a extraer la información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Generalmente utilizaremos una base de datos vectorial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○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Almacena los documentos como representaciones numéricas (vectores)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“Hola, ¿qué tal estas? →[0.12, 0.85, 0.47, ..., 0.001]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¿Cómo se generan los vectores?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○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Embeddings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1" name="Google Shape;261;p45" title="Diagrama sin títul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5150" y="3664700"/>
            <a:ext cx="5796949" cy="11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6"/>
          <p:cNvPicPr preferRelativeResize="0"/>
          <p:nvPr/>
        </p:nvPicPr>
        <p:blipFill rotWithShape="1">
          <a:blip r:embed="rId4">
            <a:alphaModFix/>
          </a:blip>
          <a:srcRect b="0" l="0" r="74242" t="49487"/>
          <a:stretch/>
        </p:blipFill>
        <p:spPr>
          <a:xfrm flipH="1">
            <a:off x="7175401" y="2960700"/>
            <a:ext cx="1968599" cy="2182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6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¿Cómo funciona un RAG? </a:t>
            </a:r>
            <a:r>
              <a:rPr b="1" i="0" lang="en" sz="2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Base de conocimiento</a:t>
            </a:r>
            <a:endParaRPr b="1" i="0" sz="21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p46"/>
          <p:cNvSpPr txBox="1"/>
          <p:nvPr/>
        </p:nvSpPr>
        <p:spPr>
          <a:xfrm>
            <a:off x="314425" y="837725"/>
            <a:ext cx="84060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¿Por qué es importante guardar los documentos como vectores?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○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Mayor velocidad de búsqueda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¿Cómo es la búsqueda en una base de datos vectorial?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○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Búsqueda por similaridad semántica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¿Qué hay que tener en cuenta de cara a transformar los documentos en vectores?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○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Tamaño de los chunks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○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Superposición de los chunks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70" name="Google Shape;27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1349" y="2781475"/>
            <a:ext cx="2489376" cy="22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7"/>
          <p:cNvPicPr preferRelativeResize="0"/>
          <p:nvPr/>
        </p:nvPicPr>
        <p:blipFill rotWithShape="1">
          <a:blip r:embed="rId4">
            <a:alphaModFix/>
          </a:blip>
          <a:srcRect b="0" l="0" r="74242" t="49487"/>
          <a:stretch/>
        </p:blipFill>
        <p:spPr>
          <a:xfrm flipH="1">
            <a:off x="7175401" y="2960700"/>
            <a:ext cx="1968599" cy="2182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7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¿Cómo funciona un RAG? </a:t>
            </a:r>
            <a:r>
              <a:rPr b="1" i="0" lang="en" sz="2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Modelo de lenguaje</a:t>
            </a:r>
            <a:endParaRPr b="1" i="0" sz="21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47"/>
          <p:cNvSpPr txBox="1"/>
          <p:nvPr/>
        </p:nvSpPr>
        <p:spPr>
          <a:xfrm>
            <a:off x="314425" y="837725"/>
            <a:ext cx="84060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 encarga de generar las respuestas con la información relevante obtenida de la base de datos vectorial.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¿Tiene que hacer algo más?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○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Gestionar la memoria de la conversación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○"/>
            </a:pPr>
            <a:r>
              <a:rPr b="0" i="0" lang="en" sz="1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Generar el mensaje que se va a buscar</a:t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79" name="Google Shape;27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850" y="2438825"/>
            <a:ext cx="4264600" cy="239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/>
          <p:nvPr/>
        </p:nvSpPr>
        <p:spPr>
          <a:xfrm>
            <a:off x="0" y="-7575"/>
            <a:ext cx="9144000" cy="5143500"/>
          </a:xfrm>
          <a:prstGeom prst="rect">
            <a:avLst/>
          </a:prstGeom>
          <a:solidFill>
            <a:srgbClr val="2F3D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8"/>
          <p:cNvSpPr txBox="1"/>
          <p:nvPr/>
        </p:nvSpPr>
        <p:spPr>
          <a:xfrm>
            <a:off x="549200" y="567900"/>
            <a:ext cx="3401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F8A800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03_</a:t>
            </a:r>
            <a:endParaRPr b="1" sz="8000">
              <a:solidFill>
                <a:srgbClr val="F8A800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sp>
        <p:nvSpPr>
          <p:cNvPr id="286" name="Google Shape;286;p48"/>
          <p:cNvSpPr txBox="1"/>
          <p:nvPr/>
        </p:nvSpPr>
        <p:spPr>
          <a:xfrm>
            <a:off x="549200" y="1694275"/>
            <a:ext cx="4521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M PLUS Rounded 1c"/>
                <a:ea typeface="M PLUS Rounded 1c"/>
                <a:cs typeface="M PLUS Rounded 1c"/>
                <a:sym typeface="M PLUS Rounded 1c"/>
              </a:rPr>
              <a:t>¿Qué es un agente?</a:t>
            </a:r>
            <a:endParaRPr b="1" sz="4000">
              <a:solidFill>
                <a:schemeClr val="lt1"/>
              </a:solidFill>
              <a:latin typeface="M PLUS Rounded 1c"/>
              <a:ea typeface="M PLUS Rounded 1c"/>
              <a:cs typeface="M PLUS Rounded 1c"/>
              <a:sym typeface="M PLUS Rounded 1c"/>
            </a:endParaRPr>
          </a:p>
        </p:txBody>
      </p:sp>
      <p:pic>
        <p:nvPicPr>
          <p:cNvPr id="287" name="Google Shape;287;p48"/>
          <p:cNvPicPr preferRelativeResize="0"/>
          <p:nvPr/>
        </p:nvPicPr>
        <p:blipFill rotWithShape="1">
          <a:blip r:embed="rId3">
            <a:alphaModFix/>
          </a:blip>
          <a:srcRect b="33293" l="63655" r="0" t="0"/>
          <a:stretch/>
        </p:blipFill>
        <p:spPr>
          <a:xfrm>
            <a:off x="5820650" y="-7575"/>
            <a:ext cx="3323400" cy="3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8"/>
          <p:cNvPicPr preferRelativeResize="0"/>
          <p:nvPr/>
        </p:nvPicPr>
        <p:blipFill rotWithShape="1">
          <a:blip r:embed="rId4">
            <a:alphaModFix/>
          </a:blip>
          <a:srcRect b="1324" l="13976" r="20716" t="1324"/>
          <a:stretch/>
        </p:blipFill>
        <p:spPr>
          <a:xfrm>
            <a:off x="5392025" y="1246575"/>
            <a:ext cx="2582100" cy="2565600"/>
          </a:xfrm>
          <a:prstGeom prst="flowChartConnector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 rotWithShape="1">
          <a:blip r:embed="rId4">
            <a:alphaModFix/>
          </a:blip>
          <a:srcRect b="0" l="0" r="74243" t="49487"/>
          <a:stretch/>
        </p:blipFill>
        <p:spPr>
          <a:xfrm>
            <a:off x="0" y="2960700"/>
            <a:ext cx="1935300" cy="21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9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¿Qué es un agente? Diferencias con un LLM</a:t>
            </a:r>
            <a:endParaRPr b="1"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49"/>
          <p:cNvSpPr txBox="1"/>
          <p:nvPr/>
        </p:nvSpPr>
        <p:spPr>
          <a:xfrm>
            <a:off x="314425" y="837725"/>
            <a:ext cx="84060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Un 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agente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es un sistema computacional capaz de percibir su entorno, razonar sobre cómo alcanzar un objetivo específico y ejecutar acciones para lograrlo, a menudo de forma autónoma.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Un LLM es una función, dado un input da un resultado, el agente tiene un 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estado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49"/>
          <p:cNvPicPr preferRelativeResize="0"/>
          <p:nvPr/>
        </p:nvPicPr>
        <p:blipFill rotWithShape="1">
          <a:blip r:embed="rId5">
            <a:alphaModFix/>
          </a:blip>
          <a:srcRect b="-1410" l="1721" r="73513" t="1410"/>
          <a:stretch/>
        </p:blipFill>
        <p:spPr>
          <a:xfrm>
            <a:off x="2678074" y="2429125"/>
            <a:ext cx="642925" cy="21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 rotWithShape="1">
          <a:blip r:embed="rId5">
            <a:alphaModFix/>
          </a:blip>
          <a:srcRect b="0" l="69028" r="0" t="0"/>
          <a:stretch/>
        </p:blipFill>
        <p:spPr>
          <a:xfrm>
            <a:off x="3321000" y="2429125"/>
            <a:ext cx="791000" cy="21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0"/>
          <p:cNvPicPr preferRelativeResize="0"/>
          <p:nvPr/>
        </p:nvPicPr>
        <p:blipFill rotWithShape="1">
          <a:blip r:embed="rId4">
            <a:alphaModFix/>
          </a:blip>
          <a:srcRect b="0" l="0" r="74243" t="49487"/>
          <a:stretch/>
        </p:blipFill>
        <p:spPr>
          <a:xfrm>
            <a:off x="0" y="2960700"/>
            <a:ext cx="1935300" cy="21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0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¿Qué es un agente? Arquitectura de un agente</a:t>
            </a:r>
            <a:endParaRPr b="1"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6" name="Google Shape;306;p50"/>
          <p:cNvSpPr txBox="1"/>
          <p:nvPr/>
        </p:nvSpPr>
        <p:spPr>
          <a:xfrm>
            <a:off x="314425" y="837725"/>
            <a:ext cx="70212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Los elementos de un agente son: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LLM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Motor de razonamiento y toma de decisiones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Planning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Como el agente desglosa las tareas y planifica su ejecución.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Memoria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Contexto e información a la que puede acceder el agente.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Tools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Acciones que puede realizar un agente.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7" name="Google Shape;307;p50"/>
          <p:cNvPicPr preferRelativeResize="0"/>
          <p:nvPr/>
        </p:nvPicPr>
        <p:blipFill rotWithShape="1">
          <a:blip r:embed="rId5">
            <a:alphaModFix/>
          </a:blip>
          <a:srcRect b="0" l="69028" r="0" t="0"/>
          <a:stretch/>
        </p:blipFill>
        <p:spPr>
          <a:xfrm>
            <a:off x="7689950" y="1218500"/>
            <a:ext cx="1039051" cy="278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1"/>
          <p:cNvPicPr preferRelativeResize="0"/>
          <p:nvPr/>
        </p:nvPicPr>
        <p:blipFill rotWithShape="1">
          <a:blip r:embed="rId4">
            <a:alphaModFix/>
          </a:blip>
          <a:srcRect b="0" l="0" r="74243" t="49487"/>
          <a:stretch/>
        </p:blipFill>
        <p:spPr>
          <a:xfrm>
            <a:off x="0" y="2960700"/>
            <a:ext cx="1935300" cy="21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1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¿Qué es un agente? El patr</a:t>
            </a: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ón ReAct</a:t>
            </a:r>
            <a:endParaRPr b="1"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5" name="Google Shape;315;p51"/>
          <p:cNvSpPr txBox="1"/>
          <p:nvPr/>
        </p:nvSpPr>
        <p:spPr>
          <a:xfrm>
            <a:off x="314425" y="837725"/>
            <a:ext cx="84894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 agente va iterando con el entorno y actualizando su estado en 3 fases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Reasoning: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 modelo describe su estado interno y planifica su siguiente acción.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Action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El modelo “ejecuta” la acción.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Observation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La acción se ejecuta y esto produce un cambio en el entorno que actualiza el estado del agente.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6" name="Google Shape;31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0073" y="2363450"/>
            <a:ext cx="2351451" cy="24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500" y="99750"/>
            <a:ext cx="949500" cy="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2"/>
          <p:cNvPicPr preferRelativeResize="0"/>
          <p:nvPr/>
        </p:nvPicPr>
        <p:blipFill rotWithShape="1">
          <a:blip r:embed="rId4">
            <a:alphaModFix/>
          </a:blip>
          <a:srcRect b="0" l="0" r="74243" t="49487"/>
          <a:stretch/>
        </p:blipFill>
        <p:spPr>
          <a:xfrm>
            <a:off x="0" y="2960700"/>
            <a:ext cx="1935300" cy="21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2"/>
          <p:cNvSpPr txBox="1"/>
          <p:nvPr/>
        </p:nvSpPr>
        <p:spPr>
          <a:xfrm>
            <a:off x="314425" y="99750"/>
            <a:ext cx="7496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¿Qué es un agente? Retos de los agentes</a:t>
            </a:r>
            <a:endParaRPr b="1"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p52"/>
          <p:cNvSpPr txBox="1"/>
          <p:nvPr/>
        </p:nvSpPr>
        <p:spPr>
          <a:xfrm>
            <a:off x="314425" y="837725"/>
            <a:ext cx="8600700" cy="4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 la hora de trabajar y diseñar agentes hay varias limitaciones que hay que tener en cuenta: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Ventana de contexto</a:t>
            </a: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Hay que controlar la ventana de contexto para no saturar la memoria del agente.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Costes y latencia: 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Cada paso de razonamiento es una llamada al modelo.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b="1"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Seguridad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Ya no solo hay que controlar al LLM si no que tambi</a:t>
            </a:r>
            <a:r>
              <a:rPr lang="en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én hay que controlar las tools y la memoria del agente.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769A2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xt Digit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2C4E7"/>
      </a:accent1>
      <a:accent2>
        <a:srgbClr val="F8A800"/>
      </a:accent2>
      <a:accent3>
        <a:srgbClr val="2F3D47"/>
      </a:accent3>
      <a:accent4>
        <a:srgbClr val="353E48"/>
      </a:accent4>
      <a:accent5>
        <a:srgbClr val="F2F2F2"/>
      </a:accent5>
      <a:accent6>
        <a:srgbClr val="333D47"/>
      </a:accent6>
      <a:hlink>
        <a:srgbClr val="82C4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769A2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